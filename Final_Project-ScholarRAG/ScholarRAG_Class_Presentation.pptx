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62" r:id="rId1"/>
  </p:sldMasterIdLst>
  <p:notesMasterIdLst>
    <p:notesMasterId r:id="rId19"/>
  </p:notesMasterIdLst>
  <p:sldIdLst>
    <p:sldId id="346" r:id="rId2"/>
    <p:sldId id="347" r:id="rId3"/>
    <p:sldId id="348" r:id="rId4"/>
    <p:sldId id="349" r:id="rId5"/>
    <p:sldId id="350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F5C513-64DB-4C04-BE11-D6D7C77CD375}">
  <a:tblStyle styleId="{ABF5C513-64DB-4C04-BE11-D6D7C77CD3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B565056-93FF-4B7F-AF42-5DF59BA84C9F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EEFF381-5B86-42B4-BC62-18079D3E4F3E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9"/>
  </p:normalViewPr>
  <p:slideViewPr>
    <p:cSldViewPr snapToGrid="0">
      <p:cViewPr varScale="1">
        <p:scale>
          <a:sx n="150" d="100"/>
          <a:sy n="150" d="100"/>
        </p:scale>
        <p:origin x="544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g3d75d370413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3" name="Google Shape;2023;g3d75d370413_2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SPEAKER: [Name] ~30 sec</a:t>
            </a:r>
            <a:br>
              <a:rPr lang="en"/>
            </a:br>
            <a:br>
              <a:rPr lang="en"/>
            </a:br>
            <a:r>
              <a:rPr lang="en"/>
              <a:t>Welcome. We're presenting ScholarRAG — a trust-first literature assistant. Our team is Sushil, Parvathi, and Eshna.</a:t>
            </a:r>
            <a:endParaRPr/>
          </a:p>
        </p:txBody>
      </p:sp>
      <p:sp>
        <p:nvSpPr>
          <p:cNvPr id="2024" name="Google Shape;2024;g3d75d370413_2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g3d75d370413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7" name="Google Shape;2037;g3d75d370413_2_1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you ask ChatGPT for research papers, it gives you confidence scores — 0.95, 0.88, 0.75. Sounds precise. But ask yourself: where do these numbers actually come from?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Look at the two outputs here — same query, different scores, different reasoning. One penalizes an arXiv preprint, the other doesn't. These scores aren't grounded in any systematic, verifiable process — they're essentially the model's gut feeling, dressed up as a number.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That's the problem ScholarRAG is solving: making confidence scores mean something you can actually trust.</a:t>
            </a:r>
            <a:endParaRPr/>
          </a:p>
        </p:txBody>
      </p:sp>
      <p:sp>
        <p:nvSpPr>
          <p:cNvPr id="2038" name="Google Shape;2038;g3d75d370413_2_1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g3d75d370413_2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5" name="Google Shape;2055;g3d75d370413_2_3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AI makes literature review faster — but faster isn't useful if you can't trust the output. A citation doesn't mean the paper actually supports the claim. Researchers, especially early-stage ones, need to verify evidence sentence by sentence. The goal is speed </a:t>
            </a:r>
            <a:r>
              <a:rPr lang="en" i="1">
                <a:solidFill>
                  <a:schemeClr val="dk1"/>
                </a:solidFill>
              </a:rPr>
              <a:t>and</a:t>
            </a:r>
            <a:r>
              <a:rPr lang="en">
                <a:solidFill>
                  <a:schemeClr val="dk1"/>
                </a:solidFill>
              </a:rPr>
              <a:t> trust — not one or the other.</a:t>
            </a:r>
            <a:endParaRPr/>
          </a:p>
        </p:txBody>
      </p:sp>
      <p:sp>
        <p:nvSpPr>
          <p:cNvPr id="2056" name="Google Shape;2056;g3d75d370413_2_3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g3d75d370413_2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9" name="Google Shape;2069;g3d75d370413_2_4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"ScholarRAG's core idea is trust by confidence, not by assertion — meaning we don't just tell you something is supported, we show you the evidence and score it.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Four pillars: every answer sentence is tied to a specific passage — not just a paper. Each citation gets an M/S/A confidence score across three independent signals. Those weights are fit on human-labeled data, not guesswork. And we're not trying to beat ChatGPT at everything — we're focused on one thing: verifiable scholarly question answering."</a:t>
            </a:r>
            <a:endParaRPr/>
          </a:p>
        </p:txBody>
      </p:sp>
      <p:sp>
        <p:nvSpPr>
          <p:cNvPr id="2070" name="Google Shape;2070;g3d75d370413_2_4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g3d75d370413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0" name="Google Shape;2100;g3d75d370413_2_7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SPEAKER: [eshna] ~1.5 min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Update the flow</a:t>
            </a:r>
            <a:br>
              <a:rPr lang="en"/>
            </a:br>
            <a:br>
              <a:rPr lang="en"/>
            </a:br>
            <a:r>
              <a:rPr lang="en"/>
              <a:t>Walk through end-to-end: Upload PDFs → chunk &amp; embed → sense disambiguation → dense retrieval + lexical rerank + doc balancing → GPT-4o-mini generates cited answer → M/S/A confidence scores → claim export for human annotation &amp; calibration.</a:t>
            </a:r>
            <a:br>
              <a:rPr lang="en"/>
            </a:br>
            <a:br>
              <a:rPr lang="en"/>
            </a:br>
            <a:r>
              <a:rPr lang="en"/>
              <a:t>Mention tech stack briefly.</a:t>
            </a:r>
            <a:endParaRPr/>
          </a:p>
        </p:txBody>
      </p:sp>
      <p:sp>
        <p:nvSpPr>
          <p:cNvPr id="2101" name="Google Shape;2101;g3d75d370413_2_7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g3d75d370413_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0" name="Google Shape;2140;g3d75d370413_2_11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SPEAKER: [eshna] ~1.5 min</a:t>
            </a:r>
            <a:br>
              <a:rPr lang="en"/>
            </a:br>
            <a:br>
              <a:rPr lang="en"/>
            </a:br>
            <a:r>
              <a:rPr lang="en"/>
              <a:t>Explain ingestion pipeline (PDF → chunks → embeddings → pgvector). Then retrieval: dense + lexical + doc balancing. Mention embedding contract metadata as an engineering detail that prevents vector mixing.</a:t>
            </a:r>
            <a:endParaRPr/>
          </a:p>
        </p:txBody>
      </p:sp>
      <p:sp>
        <p:nvSpPr>
          <p:cNvPr id="2141" name="Google Shape;2141;g3d75d370413_2_11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3d75d370413_2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0" name="Google Shape;2160;g3d75d370413_2_13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SPEAKER: [eshna] ~1 min</a:t>
            </a:r>
            <a:br>
              <a:rPr lang="en"/>
            </a:br>
            <a:br>
              <a:rPr lang="en"/>
            </a:br>
            <a:r>
              <a:rPr lang="en"/>
              <a:t>Generation: GPT-4o-mini receives retrieved chunks, must tie each sentence to evidence. If support is insufficient, hedges/omits. But grounding isn't perfect — hence the confidence layer.</a:t>
            </a:r>
            <a:endParaRPr/>
          </a:p>
        </p:txBody>
      </p:sp>
      <p:sp>
        <p:nvSpPr>
          <p:cNvPr id="2161" name="Google Shape;2161;g3d75d370413_2_13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g3d75d370413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8" name="Google Shape;2188;g3d75d370413_2_16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SPEAKER: [eshna] ~1.5 min</a:t>
            </a:r>
            <a:br>
              <a:rPr lang="en"/>
            </a:br>
            <a:br>
              <a:rPr lang="en"/>
            </a:br>
            <a:r>
              <a:rPr lang="en"/>
              <a:t>M = entailment (does the passage support the claim?), S = consistency (does the same evidence reappear?), A = corroboration (do other sources agree?). Combined via logistic regression. Default weights: w1=0.58, w2=0.22, w3=0.20.</a:t>
            </a:r>
            <a:endParaRPr/>
          </a:p>
        </p:txBody>
      </p:sp>
      <p:sp>
        <p:nvSpPr>
          <p:cNvPr id="2189" name="Google Shape;2189;g3d75d370413_2_16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3d75d370413_2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6" name="Google Shape;2216;g3d75d370413_2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g3d75d370413_2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1" name="Google Shape;2221;g3d75d370413_2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g3d75d370413_2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6" name="Google Shape;2226;g3d75d370413_2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g3d75d370413_2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1" name="Google Shape;2231;g3d75d370413_2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3d75d370413_2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6" name="Google Shape;2236;g3d75d370413_2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g3d75d370413_2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1" name="Google Shape;2241;g3d75d370413_2_20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Our dataset is small and skewed toward supported claims, which likely overstates agreement's power. Retrieval still relies on hand-tuned heuristics, and query disambiguation only covers a limited vocabulary. And M/S/A leans heavily on semantic similarity — if two documents agree but are both wrong, the system won't catch that. These are the problems our future work directly targets."</a:t>
            </a:r>
            <a:endParaRPr/>
          </a:p>
        </p:txBody>
      </p:sp>
      <p:sp>
        <p:nvSpPr>
          <p:cNvPr id="2242" name="Google Shape;2242;g3d75d370413_2_20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g3d75d370413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9" name="Google Shape;2259;g3d75d370413_2_22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 ground at the sentence level — not just the paper.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 score each citation with calibrated M/S/A confidence, not a black-box number.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Our annotation loop works on any corpus you upload, so calibration isn't locked to a fixed dataset.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And we're deliberately narrow — a domain-trust layer for scholarly QA, not a general assistant. That focus is what makes the trust guarantees possible.</a:t>
            </a:r>
            <a:endParaRPr/>
          </a:p>
        </p:txBody>
      </p:sp>
      <p:sp>
        <p:nvSpPr>
          <p:cNvPr id="2260" name="Google Shape;2260;g3d75d370413_2_22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g3d75d370413_2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4" name="Google Shape;2284;g3d75d370413_2_25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SPEAKER: [Name] ~1 min</a:t>
            </a:r>
            <a:br>
              <a:rPr lang="en"/>
            </a:br>
            <a:br>
              <a:rPr lang="en"/>
            </a:br>
            <a:r>
              <a:rPr lang="en"/>
              <a:t>Four novelty points. This maps to 15% 'novelty' rubric criterion. Emphasize the domain-trust framing.</a:t>
            </a:r>
            <a:endParaRPr/>
          </a:p>
        </p:txBody>
      </p:sp>
      <p:sp>
        <p:nvSpPr>
          <p:cNvPr id="2285" name="Google Shape;2285;g3d75d370413_2_25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g3d75d370413_2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6" name="Google Shape;2306;g3d75d370413_2_27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3 min Q&amp;A.</a:t>
            </a:r>
            <a:endParaRPr/>
          </a:p>
        </p:txBody>
      </p:sp>
      <p:sp>
        <p:nvSpPr>
          <p:cNvPr id="2307" name="Google Shape;2307;g3d75d370413_2_27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175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>
            <a:lvl1pPr marL="0" marR="0" lvl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00"/>
        </a:solidFill>
        <a:effectLst/>
      </p:bgPr>
    </p:bg>
    <p:spTree>
      <p:nvGrpSpPr>
        <p:cNvPr id="1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2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215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lang="en" sz="5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ScholarRAG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215"/>
          <p:cNvSpPr/>
          <p:nvPr/>
        </p:nvSpPr>
        <p:spPr>
          <a:xfrm>
            <a:off x="731520" y="2011680"/>
            <a:ext cx="2286000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215"/>
          <p:cNvSpPr/>
          <p:nvPr/>
        </p:nvSpPr>
        <p:spPr>
          <a:xfrm>
            <a:off x="731520" y="22860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200"/>
              <a:buFont typeface="Calibri"/>
              <a:buNone/>
            </a:pPr>
            <a:r>
              <a:rPr lang="en" sz="2200" b="0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AI-Powered Literature Assistant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215"/>
          <p:cNvSpPr/>
          <p:nvPr/>
        </p:nvSpPr>
        <p:spPr>
          <a:xfrm>
            <a:off x="731520" y="283464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Presentation  ·  CSCI 544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1" name="Google Shape;2031;p2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3749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215"/>
          <p:cNvSpPr/>
          <p:nvPr/>
        </p:nvSpPr>
        <p:spPr>
          <a:xfrm>
            <a:off x="1188720" y="3749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Sushil Dalavi  ·  Parvathi Sanjana Pericherla  ·  Eshna Gupta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p215"/>
          <p:cNvSpPr/>
          <p:nvPr/>
        </p:nvSpPr>
        <p:spPr>
          <a:xfrm>
            <a:off x="1188720" y="41148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Calibri"/>
              <a:buNone/>
            </a:pPr>
            <a:r>
              <a:rPr lang="en" sz="1200" b="0" i="1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University of Southern California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21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21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1" name="Google Shape;2041;p216"/>
          <p:cNvSpPr/>
          <p:nvPr/>
        </p:nvSpPr>
        <p:spPr>
          <a:xfrm>
            <a:off x="457200" y="48234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University of Southern California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216"/>
          <p:cNvSpPr/>
          <p:nvPr/>
        </p:nvSpPr>
        <p:spPr>
          <a:xfrm>
            <a:off x="4572000" y="48234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ScholarRAG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p216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400"/>
              <a:buFont typeface="Georgia"/>
              <a:buNone/>
            </a:pPr>
            <a:r>
              <a:rPr lang="en" sz="34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The Problem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216"/>
          <p:cNvSpPr/>
          <p:nvPr/>
        </p:nvSpPr>
        <p:spPr>
          <a:xfrm>
            <a:off x="548640" y="868680"/>
            <a:ext cx="164592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p216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" sz="1500" b="0" i="1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Current tools show "confidence scores" — but where do these numbers come from?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216"/>
          <p:cNvSpPr/>
          <p:nvPr/>
        </p:nvSpPr>
        <p:spPr>
          <a:xfrm>
            <a:off x="457200" y="1554480"/>
            <a:ext cx="4023360" cy="2788920"/>
          </a:xfrm>
          <a:prstGeom prst="rect">
            <a:avLst/>
          </a:prstGeom>
          <a:solidFill>
            <a:srgbClr val="F5F3F0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7" name="Google Shape;2047;p216" descr="/home/claude/notebookl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950" y="1482641"/>
            <a:ext cx="4023348" cy="2586433"/>
          </a:xfrm>
          <a:prstGeom prst="rect">
            <a:avLst/>
          </a:prstGeom>
          <a:noFill/>
          <a:ln>
            <a:noFill/>
          </a:ln>
        </p:spPr>
      </p:pic>
      <p:sp>
        <p:nvSpPr>
          <p:cNvPr id="2048" name="Google Shape;2048;p216"/>
          <p:cNvSpPr/>
          <p:nvPr/>
        </p:nvSpPr>
        <p:spPr>
          <a:xfrm>
            <a:off x="548640" y="4069075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767676"/>
                </a:solidFill>
                <a:latin typeface="Calibri"/>
                <a:ea typeface="Calibri"/>
                <a:cs typeface="Calibri"/>
                <a:sym typeface="Calibri"/>
              </a:rPr>
              <a:t>ChatGPT Output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216"/>
          <p:cNvSpPr/>
          <p:nvPr/>
        </p:nvSpPr>
        <p:spPr>
          <a:xfrm>
            <a:off x="4663440" y="1554480"/>
            <a:ext cx="4023360" cy="2788920"/>
          </a:xfrm>
          <a:prstGeom prst="rect">
            <a:avLst/>
          </a:prstGeom>
          <a:solidFill>
            <a:srgbClr val="F5F3F0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216"/>
          <p:cNvSpPr/>
          <p:nvPr/>
        </p:nvSpPr>
        <p:spPr>
          <a:xfrm>
            <a:off x="4754875" y="4195573"/>
            <a:ext cx="3840600" cy="1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767676"/>
                </a:solidFill>
                <a:latin typeface="Calibri"/>
                <a:ea typeface="Calibri"/>
                <a:cs typeface="Calibri"/>
                <a:sym typeface="Calibri"/>
              </a:rPr>
              <a:t>ChatGPT Output 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7676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216"/>
          <p:cNvSpPr/>
          <p:nvPr/>
        </p:nvSpPr>
        <p:spPr>
          <a:xfrm>
            <a:off x="548640" y="4434840"/>
            <a:ext cx="8046720" cy="457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2" name="Google Shape;2052;p216" title="Screenshot 2026-04-16 at 4.54.55 P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3768" y="1482650"/>
            <a:ext cx="4214484" cy="258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21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217"/>
          <p:cNvSpPr/>
          <p:nvPr/>
        </p:nvSpPr>
        <p:spPr>
          <a:xfrm>
            <a:off x="457200" y="48234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University of Southern California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p217"/>
          <p:cNvSpPr/>
          <p:nvPr/>
        </p:nvSpPr>
        <p:spPr>
          <a:xfrm>
            <a:off x="4572000" y="48234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ScholarRAG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217"/>
          <p:cNvSpPr/>
          <p:nvPr/>
        </p:nvSpPr>
        <p:spPr>
          <a:xfrm>
            <a:off x="548650" y="292800"/>
            <a:ext cx="8229600" cy="1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400"/>
              <a:buFont typeface="Georgia"/>
              <a:buNone/>
            </a:pPr>
            <a:r>
              <a:rPr lang="en" sz="30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Why Trust Matters in Literature Review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217"/>
          <p:cNvSpPr/>
          <p:nvPr/>
        </p:nvSpPr>
        <p:spPr>
          <a:xfrm>
            <a:off x="548640" y="868680"/>
            <a:ext cx="41148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3" name="Google Shape;2063;p217"/>
          <p:cNvSpPr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Char char="•"/>
            </a:pPr>
            <a:r>
              <a:rPr lang="en" sz="14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Students and researchers use AI to speed up literature review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Char char="•"/>
            </a:pPr>
            <a:r>
              <a:rPr lang="en" sz="14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 polished answer that sounds correct may not be — and citing a paper doesn't mean the paper supports the specific claim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Char char="•"/>
            </a:pPr>
            <a:r>
              <a:rPr lang="en" sz="14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Users need a clear path to verification: inspect evidence sentence by sentence, see whether support is strong or weak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Char char="•"/>
            </a:pPr>
            <a:r>
              <a:rPr lang="en" sz="14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Especially important for early-stage researchers who are still learning to navigate the literature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217"/>
          <p:cNvSpPr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5" name="Google Shape;2065;p217"/>
          <p:cNvSpPr/>
          <p:nvPr/>
        </p:nvSpPr>
        <p:spPr>
          <a:xfrm>
            <a:off x="548640" y="3657600"/>
            <a:ext cx="64008" cy="822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217"/>
          <p:cNvSpPr/>
          <p:nvPr/>
        </p:nvSpPr>
        <p:spPr>
          <a:xfrm>
            <a:off x="914400" y="365760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" sz="1400" b="0" i="1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If ScholarRAG works well, users can read research faster without choosing between speed and trust.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21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218"/>
          <p:cNvSpPr/>
          <p:nvPr/>
        </p:nvSpPr>
        <p:spPr>
          <a:xfrm>
            <a:off x="457200" y="48234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University of Southern California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218"/>
          <p:cNvSpPr/>
          <p:nvPr/>
        </p:nvSpPr>
        <p:spPr>
          <a:xfrm>
            <a:off x="4572000" y="48234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ScholarRAG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218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400"/>
              <a:buFont typeface="Georgia"/>
              <a:buNone/>
            </a:pPr>
            <a:r>
              <a:rPr lang="en" sz="34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Our Approach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218"/>
          <p:cNvSpPr/>
          <p:nvPr/>
        </p:nvSpPr>
        <p:spPr>
          <a:xfrm>
            <a:off x="548640" y="868680"/>
            <a:ext cx="201168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7" name="Google Shape;2077;p218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en" sz="1600" b="0" i="1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ScholarRAG: trust by confidence, not by assertion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218"/>
          <p:cNvSpPr/>
          <p:nvPr/>
        </p:nvSpPr>
        <p:spPr>
          <a:xfrm>
            <a:off x="548640" y="1554480"/>
            <a:ext cx="3931920" cy="1325880"/>
          </a:xfrm>
          <a:prstGeom prst="rect">
            <a:avLst/>
          </a:prstGeom>
          <a:solidFill>
            <a:srgbClr val="F5F3F0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218"/>
          <p:cNvSpPr/>
          <p:nvPr/>
        </p:nvSpPr>
        <p:spPr>
          <a:xfrm>
            <a:off x="548640" y="1554480"/>
            <a:ext cx="64008" cy="132588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0" name="Google Shape;2080;p2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1691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1" name="Google Shape;2081;p218"/>
          <p:cNvSpPr/>
          <p:nvPr/>
        </p:nvSpPr>
        <p:spPr>
          <a:xfrm>
            <a:off x="1143000" y="16459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Sentence-Level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Citation Grounding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Google Shape;2082;p218"/>
          <p:cNvSpPr/>
          <p:nvPr/>
        </p:nvSpPr>
        <p:spPr>
          <a:xfrm>
            <a:off x="777240" y="214884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Every answer sentence linked to a specific evidence passage — not just paper-level references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p218"/>
          <p:cNvSpPr/>
          <p:nvPr/>
        </p:nvSpPr>
        <p:spPr>
          <a:xfrm>
            <a:off x="4754880" y="1554480"/>
            <a:ext cx="3931920" cy="1325880"/>
          </a:xfrm>
          <a:prstGeom prst="rect">
            <a:avLst/>
          </a:prstGeom>
          <a:solidFill>
            <a:srgbClr val="F5F3F0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4" name="Google Shape;2084;p218"/>
          <p:cNvSpPr/>
          <p:nvPr/>
        </p:nvSpPr>
        <p:spPr>
          <a:xfrm>
            <a:off x="4754880" y="1554480"/>
            <a:ext cx="64008" cy="132588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5" name="Google Shape;2085;p2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3480" y="1691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6" name="Google Shape;2086;p218"/>
          <p:cNvSpPr/>
          <p:nvPr/>
        </p:nvSpPr>
        <p:spPr>
          <a:xfrm>
            <a:off x="5349240" y="16459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Per-Citation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Confidence (M/S/A)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218"/>
          <p:cNvSpPr/>
          <p:nvPr/>
        </p:nvSpPr>
        <p:spPr>
          <a:xfrm>
            <a:off x="4983543" y="2285940"/>
            <a:ext cx="3474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 = NLI entailment · S = retrieval stability across query variants · A = lexical corroboration, orthogonal to M</a:t>
            </a:r>
            <a:endParaRPr sz="11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endParaRPr sz="11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218"/>
          <p:cNvSpPr/>
          <p:nvPr/>
        </p:nvSpPr>
        <p:spPr>
          <a:xfrm>
            <a:off x="548640" y="3108960"/>
            <a:ext cx="3931920" cy="1325880"/>
          </a:xfrm>
          <a:prstGeom prst="rect">
            <a:avLst/>
          </a:prstGeom>
          <a:solidFill>
            <a:srgbClr val="F5F3F0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9" name="Google Shape;2089;p218"/>
          <p:cNvSpPr/>
          <p:nvPr/>
        </p:nvSpPr>
        <p:spPr>
          <a:xfrm>
            <a:off x="548640" y="3108960"/>
            <a:ext cx="64008" cy="132588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0" name="Google Shape;2090;p2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7240" y="32461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1" name="Google Shape;2091;p218"/>
          <p:cNvSpPr/>
          <p:nvPr/>
        </p:nvSpPr>
        <p:spPr>
          <a:xfrm>
            <a:off x="1143000" y="32004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Human-Calibrated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Weights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2" name="Google Shape;2092;p218"/>
          <p:cNvSpPr/>
          <p:nvPr/>
        </p:nvSpPr>
        <p:spPr>
          <a:xfrm>
            <a:off x="777240" y="370332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Logistic regression fit on manually labeled claim-evidence pairs — not arbitrary heuristics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218"/>
          <p:cNvSpPr/>
          <p:nvPr/>
        </p:nvSpPr>
        <p:spPr>
          <a:xfrm>
            <a:off x="4754880" y="3108960"/>
            <a:ext cx="3931920" cy="1325880"/>
          </a:xfrm>
          <a:prstGeom prst="rect">
            <a:avLst/>
          </a:prstGeom>
          <a:solidFill>
            <a:srgbClr val="EFEFE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218"/>
          <p:cNvSpPr/>
          <p:nvPr/>
        </p:nvSpPr>
        <p:spPr>
          <a:xfrm>
            <a:off x="4754880" y="3108960"/>
            <a:ext cx="64008" cy="132588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5" name="Google Shape;2095;p2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83480" y="32461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6" name="Google Shape;2096;p218"/>
          <p:cNvSpPr/>
          <p:nvPr/>
        </p:nvSpPr>
        <p:spPr>
          <a:xfrm>
            <a:off x="5349240" y="32004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Domain-Trust Layer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for Literature Review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218"/>
          <p:cNvSpPr/>
          <p:nvPr/>
        </p:nvSpPr>
        <p:spPr>
          <a:xfrm>
            <a:off x="4983480" y="370332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Not competing on general intelligence — focused on verifiable scholarly QA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21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p219"/>
          <p:cNvSpPr/>
          <p:nvPr/>
        </p:nvSpPr>
        <p:spPr>
          <a:xfrm>
            <a:off x="457200" y="48234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University of Southern California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219"/>
          <p:cNvSpPr/>
          <p:nvPr/>
        </p:nvSpPr>
        <p:spPr>
          <a:xfrm>
            <a:off x="4572000" y="48234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ScholarRAG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219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400"/>
              <a:buFont typeface="Georgia"/>
              <a:buNone/>
            </a:pPr>
            <a:r>
              <a:rPr lang="en" sz="34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System Overview - End to end</a:t>
            </a:r>
            <a:endParaRPr sz="3400" b="1" i="0" u="none" strike="noStrike" cap="none">
              <a:solidFill>
                <a:srgbClr val="99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07" name="Google Shape;2107;p219"/>
          <p:cNvSpPr/>
          <p:nvPr/>
        </p:nvSpPr>
        <p:spPr>
          <a:xfrm>
            <a:off x="548640" y="868680"/>
            <a:ext cx="210312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8" name="Google Shape;2108;p219"/>
          <p:cNvSpPr/>
          <p:nvPr/>
        </p:nvSpPr>
        <p:spPr>
          <a:xfrm>
            <a:off x="274320" y="1188720"/>
            <a:ext cx="1463040" cy="13716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9" name="Google Shape;2109;p219"/>
          <p:cNvSpPr/>
          <p:nvPr/>
        </p:nvSpPr>
        <p:spPr>
          <a:xfrm>
            <a:off x="274320" y="1188720"/>
            <a:ext cx="1463040" cy="457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0" name="Google Shape;2110;p2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820" y="13258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11" name="Google Shape;2111;p219"/>
          <p:cNvSpPr/>
          <p:nvPr/>
        </p:nvSpPr>
        <p:spPr>
          <a:xfrm>
            <a:off x="320040" y="17373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PDFs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219"/>
          <p:cNvSpPr/>
          <p:nvPr/>
        </p:nvSpPr>
        <p:spPr>
          <a:xfrm>
            <a:off x="1783080" y="1837944"/>
            <a:ext cx="274320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3" name="Google Shape;2113;p219"/>
          <p:cNvSpPr/>
          <p:nvPr/>
        </p:nvSpPr>
        <p:spPr>
          <a:xfrm>
            <a:off x="1965960" y="1188720"/>
            <a:ext cx="1463040" cy="13716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4" name="Google Shape;2114;p219"/>
          <p:cNvSpPr/>
          <p:nvPr/>
        </p:nvSpPr>
        <p:spPr>
          <a:xfrm>
            <a:off x="1965960" y="1188720"/>
            <a:ext cx="1463040" cy="457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5" name="Google Shape;2115;p2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37460" y="13258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16" name="Google Shape;2116;p219"/>
          <p:cNvSpPr/>
          <p:nvPr/>
        </p:nvSpPr>
        <p:spPr>
          <a:xfrm>
            <a:off x="2011680" y="17373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Intent Resolver (GPT-4o-mini)</a:t>
            </a:r>
            <a:endParaRPr sz="1000" b="1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7" name="Google Shape;2117;p219"/>
          <p:cNvSpPr/>
          <p:nvPr/>
        </p:nvSpPr>
        <p:spPr>
          <a:xfrm>
            <a:off x="3474720" y="1837944"/>
            <a:ext cx="274320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219"/>
          <p:cNvSpPr/>
          <p:nvPr/>
        </p:nvSpPr>
        <p:spPr>
          <a:xfrm>
            <a:off x="3657600" y="1188720"/>
            <a:ext cx="1463040" cy="13716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219"/>
          <p:cNvSpPr/>
          <p:nvPr/>
        </p:nvSpPr>
        <p:spPr>
          <a:xfrm>
            <a:off x="3657600" y="1188720"/>
            <a:ext cx="1463040" cy="457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0" name="Google Shape;2120;p2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29100" y="13258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219"/>
          <p:cNvSpPr/>
          <p:nvPr/>
        </p:nvSpPr>
        <p:spPr>
          <a:xfrm>
            <a:off x="3703325" y="1737350"/>
            <a:ext cx="14631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Hybrid Retrieval:     Dense + Lexical (α = 0.35)</a:t>
            </a:r>
            <a:endParaRPr sz="11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endParaRPr sz="11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219"/>
          <p:cNvSpPr/>
          <p:nvPr/>
        </p:nvSpPr>
        <p:spPr>
          <a:xfrm>
            <a:off x="5166360" y="1837944"/>
            <a:ext cx="274320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219"/>
          <p:cNvSpPr/>
          <p:nvPr/>
        </p:nvSpPr>
        <p:spPr>
          <a:xfrm>
            <a:off x="5349240" y="1188720"/>
            <a:ext cx="1463040" cy="13716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4" name="Google Shape;2124;p219"/>
          <p:cNvSpPr/>
          <p:nvPr/>
        </p:nvSpPr>
        <p:spPr>
          <a:xfrm>
            <a:off x="5349240" y="1188720"/>
            <a:ext cx="1463040" cy="457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5" name="Google Shape;2125;p2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20740" y="13258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26" name="Google Shape;2126;p219"/>
          <p:cNvSpPr/>
          <p:nvPr/>
        </p:nvSpPr>
        <p:spPr>
          <a:xfrm>
            <a:off x="5394960" y="17373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Citation Grounded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219"/>
          <p:cNvSpPr/>
          <p:nvPr/>
        </p:nvSpPr>
        <p:spPr>
          <a:xfrm>
            <a:off x="6858000" y="1837944"/>
            <a:ext cx="274320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8" name="Google Shape;2128;p219"/>
          <p:cNvSpPr/>
          <p:nvPr/>
        </p:nvSpPr>
        <p:spPr>
          <a:xfrm>
            <a:off x="7040880" y="1188720"/>
            <a:ext cx="1463040" cy="13716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9" name="Google Shape;2129;p219"/>
          <p:cNvSpPr/>
          <p:nvPr/>
        </p:nvSpPr>
        <p:spPr>
          <a:xfrm>
            <a:off x="7040880" y="1188720"/>
            <a:ext cx="1463040" cy="457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0" name="Google Shape;2130;p2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12380" y="13258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219"/>
          <p:cNvSpPr/>
          <p:nvPr/>
        </p:nvSpPr>
        <p:spPr>
          <a:xfrm>
            <a:off x="7086600" y="173736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M/S/A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Confidence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2" name="Google Shape;2132;p219"/>
          <p:cNvCxnSpPr/>
          <p:nvPr/>
        </p:nvCxnSpPr>
        <p:spPr>
          <a:xfrm>
            <a:off x="7772400" y="2560320"/>
            <a:ext cx="0" cy="411480"/>
          </a:xfrm>
          <a:prstGeom prst="straightConnector1">
            <a:avLst/>
          </a:prstGeom>
          <a:noFill/>
          <a:ln w="254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3" name="Google Shape;2133;p219"/>
          <p:cNvSpPr/>
          <p:nvPr/>
        </p:nvSpPr>
        <p:spPr>
          <a:xfrm>
            <a:off x="6309360" y="3017520"/>
            <a:ext cx="2743200" cy="640080"/>
          </a:xfrm>
          <a:prstGeom prst="rect">
            <a:avLst/>
          </a:prstGeom>
          <a:solidFill>
            <a:srgbClr val="FFF4CC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219"/>
          <p:cNvSpPr/>
          <p:nvPr/>
        </p:nvSpPr>
        <p:spPr>
          <a:xfrm>
            <a:off x="6309360" y="301752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novelty*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219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6" name="Google Shape;2136;p219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Embeddings: mxbai-embed-large (Ollama)  ·  Storage: Postgres + pgvector  ·  Generation: GPT-4o-mini  ·  Frontend: React/TS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219"/>
          <p:cNvSpPr txBox="1"/>
          <p:nvPr/>
        </p:nvSpPr>
        <p:spPr>
          <a:xfrm>
            <a:off x="3196025" y="2819850"/>
            <a:ext cx="2386200" cy="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highlight>
                  <a:schemeClr val="accent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Key Design Idea: </a:t>
            </a:r>
            <a:r>
              <a:rPr lang="en" sz="1600" b="1" i="0" u="none" strike="noStrike" cap="none">
                <a:solidFill>
                  <a:schemeClr val="dk1"/>
                </a:solidFill>
                <a:highlight>
                  <a:schemeClr val="accent4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Generate answers  + verify + quantify trust</a:t>
            </a:r>
            <a:endParaRPr sz="1600" b="1" i="0" u="none" strike="noStrike" cap="none">
              <a:solidFill>
                <a:schemeClr val="dk1"/>
              </a:solidFill>
              <a:highlight>
                <a:schemeClr val="accent4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22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220"/>
          <p:cNvSpPr/>
          <p:nvPr/>
        </p:nvSpPr>
        <p:spPr>
          <a:xfrm>
            <a:off x="457200" y="48234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University of Southern California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220"/>
          <p:cNvSpPr/>
          <p:nvPr/>
        </p:nvSpPr>
        <p:spPr>
          <a:xfrm>
            <a:off x="4572000" y="48234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ScholarRAG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220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400"/>
              <a:buFont typeface="Georgia"/>
              <a:buNone/>
            </a:pPr>
            <a:r>
              <a:rPr lang="en" sz="34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Ingestion &amp; Retrieval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220"/>
          <p:cNvSpPr/>
          <p:nvPr/>
        </p:nvSpPr>
        <p:spPr>
          <a:xfrm>
            <a:off x="548640" y="868680"/>
            <a:ext cx="256032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8" name="Google Shape;2148;p220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F5F3F0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9" name="Google Shape;2149;p220"/>
          <p:cNvSpPr/>
          <p:nvPr/>
        </p:nvSpPr>
        <p:spPr>
          <a:xfrm>
            <a:off x="548640" y="1188720"/>
            <a:ext cx="64008" cy="32004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0" name="Google Shape;2150;p2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3716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51" name="Google Shape;2151;p220"/>
          <p:cNvSpPr/>
          <p:nvPr/>
        </p:nvSpPr>
        <p:spPr>
          <a:xfrm>
            <a:off x="1371600" y="1371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Document Ingestion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220"/>
          <p:cNvSpPr/>
          <p:nvPr/>
        </p:nvSpPr>
        <p:spPr>
          <a:xfrm>
            <a:off x="914400" y="1920240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PDF upload via React frontend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Text extraction + overlapping chunks with page metadata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mxbai-embed-large embeddings (Ollama)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Postgres + pgvector with embedding contract metadata (provider, model, version, dim)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Prevents mixing vectors from different runs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220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F5F3F0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4" name="Google Shape;2154;p220"/>
          <p:cNvSpPr/>
          <p:nvPr/>
        </p:nvSpPr>
        <p:spPr>
          <a:xfrm>
            <a:off x="4754880" y="1188720"/>
            <a:ext cx="64008" cy="3200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5" name="Google Shape;2155;p2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0" y="13716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56" name="Google Shape;2156;p220"/>
          <p:cNvSpPr/>
          <p:nvPr/>
        </p:nvSpPr>
        <p:spPr>
          <a:xfrm>
            <a:off x="5577840" y="1371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Hybrid Retrieval</a:t>
            </a:r>
            <a:endParaRPr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220"/>
          <p:cNvSpPr/>
          <p:nvPr/>
        </p:nvSpPr>
        <p:spPr>
          <a:xfrm>
            <a:off x="5120640" y="1920240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Dense cosine + BM25 style lexical overlap fused with a=0.35</a:t>
            </a:r>
            <a:endParaRPr sz="12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Multi-document balancing heuristics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Query intent resolution via GPT-4o-mini — extracts canonical term, inferred domain, and query variants 57-term curated lexicon retained as deterministic fallback</a:t>
            </a:r>
            <a:endParaRPr sz="12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22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221"/>
          <p:cNvSpPr/>
          <p:nvPr/>
        </p:nvSpPr>
        <p:spPr>
          <a:xfrm>
            <a:off x="457200" y="48234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University of Southern California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221"/>
          <p:cNvSpPr/>
          <p:nvPr/>
        </p:nvSpPr>
        <p:spPr>
          <a:xfrm>
            <a:off x="4572000" y="48234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ScholarRAG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p22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400"/>
              <a:buFont typeface="Georgia"/>
              <a:buNone/>
            </a:pPr>
            <a:r>
              <a:rPr lang="en" sz="34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Citation-Grounded Generation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221"/>
          <p:cNvSpPr/>
          <p:nvPr/>
        </p:nvSpPr>
        <p:spPr>
          <a:xfrm>
            <a:off x="548640" y="868680"/>
            <a:ext cx="347472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8" name="Google Shape;2168;p2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143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69" name="Google Shape;2169;p221"/>
          <p:cNvSpPr/>
          <p:nvPr/>
        </p:nvSpPr>
        <p:spPr>
          <a:xfrm>
            <a:off x="1051560" y="11430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" sz="15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GPT-4o-mini with constrained prompting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p221"/>
          <p:cNvSpPr/>
          <p:nvPr/>
        </p:nvSpPr>
        <p:spPr>
          <a:xfrm>
            <a:off x="548640" y="1828800"/>
            <a:ext cx="2560320" cy="2011680"/>
          </a:xfrm>
          <a:prstGeom prst="rect">
            <a:avLst/>
          </a:prstGeom>
          <a:solidFill>
            <a:srgbClr val="F5F3F0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1" name="Google Shape;2171;p221"/>
          <p:cNvSpPr/>
          <p:nvPr/>
        </p:nvSpPr>
        <p:spPr>
          <a:xfrm>
            <a:off x="548640" y="1828800"/>
            <a:ext cx="256032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2" name="Google Shape;2172;p2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20116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73" name="Google Shape;2173;p221"/>
          <p:cNvSpPr/>
          <p:nvPr/>
        </p:nvSpPr>
        <p:spPr>
          <a:xfrm>
            <a:off x="1005840" y="196596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Sentence-Level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Attribution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221"/>
          <p:cNvSpPr/>
          <p:nvPr/>
        </p:nvSpPr>
        <p:spPr>
          <a:xfrm>
            <a:off x="685800" y="2560320"/>
            <a:ext cx="2286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Each answer sentence tied to a specific evidence passage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221"/>
          <p:cNvSpPr/>
          <p:nvPr/>
        </p:nvSpPr>
        <p:spPr>
          <a:xfrm>
            <a:off x="3383280" y="1828800"/>
            <a:ext cx="2560320" cy="2011680"/>
          </a:xfrm>
          <a:prstGeom prst="rect">
            <a:avLst/>
          </a:prstGeom>
          <a:solidFill>
            <a:srgbClr val="F5F3F0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221"/>
          <p:cNvSpPr/>
          <p:nvPr/>
        </p:nvSpPr>
        <p:spPr>
          <a:xfrm>
            <a:off x="3383280" y="1828800"/>
            <a:ext cx="256032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7" name="Google Shape;2177;p2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20440" y="20116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78" name="Google Shape;2178;p221"/>
          <p:cNvSpPr/>
          <p:nvPr/>
        </p:nvSpPr>
        <p:spPr>
          <a:xfrm>
            <a:off x="3840480" y="196596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Abstain &amp;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Hedge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221"/>
          <p:cNvSpPr/>
          <p:nvPr/>
        </p:nvSpPr>
        <p:spPr>
          <a:xfrm>
            <a:off x="3520440" y="2560320"/>
            <a:ext cx="2286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Post-generation pass reviews each sentence via NLI entailment; sentences with no grounding are flagged as weak in UI</a:t>
            </a:r>
            <a:endParaRPr sz="12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221"/>
          <p:cNvSpPr/>
          <p:nvPr/>
        </p:nvSpPr>
        <p:spPr>
          <a:xfrm>
            <a:off x="6217920" y="1828800"/>
            <a:ext cx="2560320" cy="2011680"/>
          </a:xfrm>
          <a:prstGeom prst="rect">
            <a:avLst/>
          </a:prstGeom>
          <a:solidFill>
            <a:srgbClr val="F5F3F0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1" name="Google Shape;2181;p221"/>
          <p:cNvSpPr/>
          <p:nvPr/>
        </p:nvSpPr>
        <p:spPr>
          <a:xfrm>
            <a:off x="6217920" y="1828800"/>
            <a:ext cx="256032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2" name="Google Shape;2182;p2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5080" y="20116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83" name="Google Shape;2183;p221"/>
          <p:cNvSpPr/>
          <p:nvPr/>
        </p:nvSpPr>
        <p:spPr>
          <a:xfrm>
            <a:off x="6675120" y="196596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Multi-Document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Synthesis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4" name="Google Shape;2184;p221"/>
          <p:cNvSpPr/>
          <p:nvPr/>
        </p:nvSpPr>
        <p:spPr>
          <a:xfrm>
            <a:off x="6355080" y="2560320"/>
            <a:ext cx="2286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Cross-paper synthesis with per-sentence citations preserved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221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Calibri"/>
              <a:buNone/>
            </a:pPr>
            <a:r>
              <a:rPr lang="en" sz="1200" b="0" i="1" u="none" strike="noStrike" cap="none">
                <a:solidFill>
                  <a:srgbClr val="767676"/>
                </a:solidFill>
                <a:latin typeface="Calibri"/>
                <a:ea typeface="Calibri"/>
                <a:cs typeface="Calibri"/>
                <a:sym typeface="Calibri"/>
              </a:rPr>
              <a:t>Grounding is not perfect — this is why the confidence module and annotation workflow are necessary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2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222"/>
          <p:cNvSpPr/>
          <p:nvPr/>
        </p:nvSpPr>
        <p:spPr>
          <a:xfrm>
            <a:off x="457200" y="48234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University of Southern California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3" name="Google Shape;2193;p222"/>
          <p:cNvSpPr/>
          <p:nvPr/>
        </p:nvSpPr>
        <p:spPr>
          <a:xfrm>
            <a:off x="4572000" y="48234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ScholarRAG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222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400"/>
              <a:buFont typeface="Georgia"/>
              <a:buNone/>
            </a:pPr>
            <a:r>
              <a:rPr lang="en" sz="34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M/S/A Confidence Model 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222"/>
          <p:cNvSpPr/>
          <p:nvPr/>
        </p:nvSpPr>
        <p:spPr>
          <a:xfrm>
            <a:off x="548640" y="868680"/>
            <a:ext cx="27432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222"/>
          <p:cNvSpPr/>
          <p:nvPr/>
        </p:nvSpPr>
        <p:spPr>
          <a:xfrm>
            <a:off x="548640" y="1051560"/>
            <a:ext cx="2560200" cy="2194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222"/>
          <p:cNvSpPr/>
          <p:nvPr/>
        </p:nvSpPr>
        <p:spPr>
          <a:xfrm>
            <a:off x="548640" y="1051560"/>
            <a:ext cx="2560320" cy="6400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222"/>
          <p:cNvSpPr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800"/>
              <a:buFont typeface="Georgia"/>
              <a:buNone/>
            </a:pPr>
            <a:r>
              <a:rPr lang="en" sz="28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p222"/>
          <p:cNvSpPr/>
          <p:nvPr/>
        </p:nvSpPr>
        <p:spPr>
          <a:xfrm>
            <a:off x="1097280" y="13258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Semantic Match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222"/>
          <p:cNvSpPr/>
          <p:nvPr/>
        </p:nvSpPr>
        <p:spPr>
          <a:xfrm>
            <a:off x="685800" y="1874520"/>
            <a:ext cx="22860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evidence actually support the claim?</a:t>
            </a:r>
            <a:endParaRPr sz="1200" b="0" i="0" u="none" strike="noStrike" cap="none">
              <a:solidFill>
                <a:srgbClr val="4A4A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endParaRPr sz="1200" b="0" i="0" u="none" strike="noStrike" cap="none">
              <a:solidFill>
                <a:srgbClr val="4A4A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200" b="0" i="0" u="none" strike="noStrike" cap="none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NLI entailment probability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200" b="0" i="0" u="none" strike="noStrike" cap="none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between claim and cited passage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200" b="0" i="0" u="none" strike="noStrike" cap="none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(GPT-4o-mini as classifier). </a:t>
            </a:r>
            <a:r>
              <a:rPr lang="en" sz="12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Paraphrased but grounded claims are rewarded.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1" name="Google Shape;2201;p222"/>
          <p:cNvSpPr/>
          <p:nvPr/>
        </p:nvSpPr>
        <p:spPr>
          <a:xfrm>
            <a:off x="3383280" y="1051560"/>
            <a:ext cx="25603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2" name="Google Shape;2202;p222"/>
          <p:cNvSpPr/>
          <p:nvPr/>
        </p:nvSpPr>
        <p:spPr>
          <a:xfrm>
            <a:off x="3383280" y="1051560"/>
            <a:ext cx="2560320" cy="64008"/>
          </a:xfrm>
          <a:prstGeom prst="rect">
            <a:avLst/>
          </a:prstGeom>
          <a:solidFill>
            <a:srgbClr val="2B55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222"/>
          <p:cNvSpPr/>
          <p:nvPr/>
        </p:nvSpPr>
        <p:spPr>
          <a:xfrm>
            <a:off x="3520440" y="1280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597"/>
              </a:buClr>
              <a:buSzPts val="2800"/>
              <a:buFont typeface="Georgia"/>
              <a:buNone/>
            </a:pPr>
            <a:r>
              <a:rPr lang="en" sz="2800" b="1" i="0" u="none" strike="noStrike" cap="none">
                <a:solidFill>
                  <a:srgbClr val="2B5597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222"/>
          <p:cNvSpPr/>
          <p:nvPr/>
        </p:nvSpPr>
        <p:spPr>
          <a:xfrm>
            <a:off x="3931920" y="13258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Retrieval Stability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5" name="Google Shape;2205;p222"/>
          <p:cNvSpPr/>
          <p:nvPr/>
        </p:nvSpPr>
        <p:spPr>
          <a:xfrm>
            <a:off x="3520440" y="187452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the same evidence appear across runs?</a:t>
            </a:r>
            <a:endParaRPr sz="1500" b="1" i="0" u="none" strike="noStrike" cap="none">
              <a:solidFill>
                <a:srgbClr val="4A4A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300" b="0" i="0" u="none" strike="noStrike" cap="none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Fraction of perturbed retrieval</a:t>
            </a:r>
            <a:endParaRPr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300" b="0" i="0" u="none" strike="noStrike" cap="none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runs returning same evidence</a:t>
            </a:r>
            <a:endParaRPr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300" b="0" i="0" u="none" strike="noStrike" cap="none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(query perturbation)</a:t>
            </a:r>
            <a:endParaRPr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6" name="Google Shape;2206;p222"/>
          <p:cNvSpPr/>
          <p:nvPr/>
        </p:nvSpPr>
        <p:spPr>
          <a:xfrm>
            <a:off x="6217920" y="1051560"/>
            <a:ext cx="25603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222"/>
          <p:cNvSpPr/>
          <p:nvPr/>
        </p:nvSpPr>
        <p:spPr>
          <a:xfrm>
            <a:off x="6217920" y="1051560"/>
            <a:ext cx="2560320" cy="6400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222"/>
          <p:cNvSpPr/>
          <p:nvPr/>
        </p:nvSpPr>
        <p:spPr>
          <a:xfrm>
            <a:off x="6355080" y="1280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860B"/>
              </a:buClr>
              <a:buSzPts val="2800"/>
              <a:buFont typeface="Georgia"/>
              <a:buNone/>
            </a:pPr>
            <a:r>
              <a:rPr lang="en" sz="2800" b="1" i="0" u="none" strike="noStrike" cap="none">
                <a:solidFill>
                  <a:srgbClr val="B8860B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p222"/>
          <p:cNvSpPr/>
          <p:nvPr/>
        </p:nvSpPr>
        <p:spPr>
          <a:xfrm>
            <a:off x="6766560" y="13258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Agreement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p222"/>
          <p:cNvSpPr/>
          <p:nvPr/>
        </p:nvSpPr>
        <p:spPr>
          <a:xfrm>
            <a:off x="6355080" y="1874520"/>
            <a:ext cx="22860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multiple sources support it?</a:t>
            </a:r>
            <a:endParaRPr sz="1100" b="1" i="0" u="none" strike="noStrike" cap="none">
              <a:solidFill>
                <a:srgbClr val="4A4A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endParaRPr sz="800" b="0" i="0" u="none" strike="noStrike" cap="none">
              <a:solidFill>
                <a:srgbClr val="4A4A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lexical corroboration - fraction of distinct document sources whose snippet shares &gt;= 2 content words with the claim. Designed to be orthogonal to M so calibration doesnt degenerate to label as feature.</a:t>
            </a:r>
            <a:endParaRPr sz="800">
              <a:solidFill>
                <a:srgbClr val="4A4A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endParaRPr sz="800">
              <a:solidFill>
                <a:srgbClr val="4A4A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1" name="Google Shape;2211;p222"/>
          <p:cNvSpPr/>
          <p:nvPr/>
        </p:nvSpPr>
        <p:spPr>
          <a:xfrm>
            <a:off x="914400" y="3474720"/>
            <a:ext cx="7315200" cy="59436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2" name="Google Shape;2212;p222"/>
          <p:cNvSpPr/>
          <p:nvPr/>
        </p:nvSpPr>
        <p:spPr>
          <a:xfrm>
            <a:off x="914400" y="347472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Consolas"/>
              <a:buNone/>
            </a:pPr>
            <a:r>
              <a:rPr lang="en" sz="2000" b="0" i="0" u="none" strike="noStrike" cap="none">
                <a:solidFill>
                  <a:srgbClr val="FFCC00"/>
                </a:solidFill>
                <a:latin typeface="Consolas"/>
                <a:ea typeface="Consolas"/>
                <a:cs typeface="Consolas"/>
                <a:sym typeface="Consolas"/>
              </a:rPr>
              <a:t>Confidence = σ( b + w₁·M + w₂·S + w₃·A 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222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Calibri"/>
              <a:buNone/>
            </a:pPr>
            <a:r>
              <a:rPr lang="en" sz="1200" b="0" i="1" u="none" strike="noStrike" cap="none">
                <a:solidFill>
                  <a:srgbClr val="767676"/>
                </a:solidFill>
                <a:latin typeface="Calibri"/>
                <a:ea typeface="Calibri"/>
                <a:cs typeface="Calibri"/>
                <a:sym typeface="Calibri"/>
              </a:rPr>
              <a:t>No single signal fully captures evidence quality — that's why we use three complementary signals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8" name="Google Shape;2218;p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3" name="Google Shape;2223;p2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0384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8" name="Google Shape;2228;p2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3" name="Google Shape;2233;p2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8" name="Google Shape;2238;p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9763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00"/>
        </a:solidFill>
        <a:effectLst/>
      </p:bgPr>
    </p:bg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228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5" name="Google Shape;2245;p228"/>
          <p:cNvSpPr/>
          <p:nvPr/>
        </p:nvSpPr>
        <p:spPr>
          <a:xfrm>
            <a:off x="548640" y="2286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endParaRPr sz="34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" sz="3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Current Limitations</a:t>
            </a:r>
            <a:endParaRPr sz="34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endParaRPr sz="34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46" name="Google Shape;2246;p228"/>
          <p:cNvSpPr/>
          <p:nvPr/>
        </p:nvSpPr>
        <p:spPr>
          <a:xfrm>
            <a:off x="548640" y="777240"/>
            <a:ext cx="1828800" cy="36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228"/>
          <p:cNvSpPr/>
          <p:nvPr/>
        </p:nvSpPr>
        <p:spPr>
          <a:xfrm>
            <a:off x="822960" y="1005840"/>
            <a:ext cx="4116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8" name="Google Shape;2248;p228"/>
          <p:cNvSpPr/>
          <p:nvPr/>
        </p:nvSpPr>
        <p:spPr>
          <a:xfrm>
            <a:off x="822960" y="100584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Georgia"/>
              <a:buNone/>
            </a:pPr>
            <a:r>
              <a:rPr lang="en" sz="20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228"/>
          <p:cNvSpPr/>
          <p:nvPr/>
        </p:nvSpPr>
        <p:spPr>
          <a:xfrm>
            <a:off x="1417320" y="1266715"/>
            <a:ext cx="685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Dataset is small </a:t>
            </a:r>
            <a:r>
              <a:rPr lang="en" sz="1600" b="1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~530 human-labeled pairs</a:t>
            </a:r>
            <a:endParaRPr sz="1600" b="1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C00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p228"/>
          <p:cNvSpPr/>
          <p:nvPr/>
        </p:nvSpPr>
        <p:spPr>
          <a:xfrm>
            <a:off x="822960" y="1965960"/>
            <a:ext cx="4116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228"/>
          <p:cNvSpPr/>
          <p:nvPr/>
        </p:nvSpPr>
        <p:spPr>
          <a:xfrm>
            <a:off x="82296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Georgia"/>
              <a:buNone/>
            </a:pPr>
            <a:r>
              <a:rPr lang="en" sz="20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p228"/>
          <p:cNvSpPr/>
          <p:nvPr/>
        </p:nvSpPr>
        <p:spPr>
          <a:xfrm>
            <a:off x="1417320" y="1965960"/>
            <a:ext cx="685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Retrieval is heuristic based: lexical reranking, dense search, document-balancing</a:t>
            </a:r>
            <a:endParaRPr sz="1600" b="1" i="0" u="none" strike="noStrike" cap="none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C00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228"/>
          <p:cNvSpPr/>
          <p:nvPr/>
        </p:nvSpPr>
        <p:spPr>
          <a:xfrm>
            <a:off x="822960" y="2926080"/>
            <a:ext cx="4116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4" name="Google Shape;2254;p228"/>
          <p:cNvSpPr/>
          <p:nvPr/>
        </p:nvSpPr>
        <p:spPr>
          <a:xfrm>
            <a:off x="822960" y="29260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Georgia"/>
              <a:buNone/>
            </a:pPr>
            <a:r>
              <a:rPr lang="en" sz="20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228"/>
          <p:cNvSpPr/>
          <p:nvPr/>
        </p:nvSpPr>
        <p:spPr>
          <a:xfrm>
            <a:off x="1417320" y="2926080"/>
            <a:ext cx="685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Query disambiguation only handles a small set of terms</a:t>
            </a:r>
            <a:endParaRPr sz="1600" b="1" i="0" u="none" strike="noStrike" cap="none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228"/>
          <p:cNvSpPr/>
          <p:nvPr/>
        </p:nvSpPr>
        <p:spPr>
          <a:xfrm>
            <a:off x="0" y="4960620"/>
            <a:ext cx="9144000" cy="183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00"/>
        </a:solidFill>
        <a:effectLst/>
      </p:bgPr>
    </p:bg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2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p229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" sz="3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What's Novel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229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5" name="Google Shape;2265;p229"/>
          <p:cNvSpPr/>
          <p:nvPr/>
        </p:nvSpPr>
        <p:spPr>
          <a:xfrm>
            <a:off x="822960" y="1005840"/>
            <a:ext cx="411480" cy="411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6" name="Google Shape;2266;p229"/>
          <p:cNvSpPr/>
          <p:nvPr/>
        </p:nvSpPr>
        <p:spPr>
          <a:xfrm>
            <a:off x="822960" y="1005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Georgia"/>
              <a:buNone/>
            </a:pPr>
            <a:r>
              <a:rPr lang="en" sz="20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229"/>
          <p:cNvSpPr/>
          <p:nvPr/>
        </p:nvSpPr>
        <p:spPr>
          <a:xfrm>
            <a:off x="1417320" y="1005840"/>
            <a:ext cx="6858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Sentence-level grounding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229"/>
          <p:cNvSpPr/>
          <p:nvPr/>
        </p:nvSpPr>
        <p:spPr>
          <a:xfrm>
            <a:off x="1417320" y="135331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Each answer sentence tied to specific evidence — not just paper-level citations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229"/>
          <p:cNvSpPr/>
          <p:nvPr/>
        </p:nvSpPr>
        <p:spPr>
          <a:xfrm>
            <a:off x="822960" y="1965960"/>
            <a:ext cx="411480" cy="411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p229"/>
          <p:cNvSpPr/>
          <p:nvPr/>
        </p:nvSpPr>
        <p:spPr>
          <a:xfrm>
            <a:off x="822960" y="19659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Georgia"/>
              <a:buNone/>
            </a:pPr>
            <a:r>
              <a:rPr lang="en" sz="20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229"/>
          <p:cNvSpPr/>
          <p:nvPr/>
        </p:nvSpPr>
        <p:spPr>
          <a:xfrm>
            <a:off x="1417320" y="19659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Calibrated per-citation confidence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2" name="Google Shape;2272;p229"/>
          <p:cNvSpPr/>
          <p:nvPr/>
        </p:nvSpPr>
        <p:spPr>
          <a:xfrm>
            <a:off x="1417320" y="231343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Interpretable M/S/A score per claim with logistic calibration from human labels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229"/>
          <p:cNvSpPr/>
          <p:nvPr/>
        </p:nvSpPr>
        <p:spPr>
          <a:xfrm>
            <a:off x="822960" y="2926080"/>
            <a:ext cx="411480" cy="411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p229"/>
          <p:cNvSpPr/>
          <p:nvPr/>
        </p:nvSpPr>
        <p:spPr>
          <a:xfrm>
            <a:off x="822960" y="2926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Georgia"/>
              <a:buNone/>
            </a:pPr>
            <a:r>
              <a:rPr lang="en" sz="20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229"/>
          <p:cNvSpPr/>
          <p:nvPr/>
        </p:nvSpPr>
        <p:spPr>
          <a:xfrm>
            <a:off x="1417320" y="292608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Open-corpus annotation loop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229"/>
          <p:cNvSpPr/>
          <p:nvPr/>
        </p:nvSpPr>
        <p:spPr>
          <a:xfrm>
            <a:off x="1417320" y="32735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Any uploaded papers → claim export → human labels → weight fitting → inference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229"/>
          <p:cNvSpPr/>
          <p:nvPr/>
        </p:nvSpPr>
        <p:spPr>
          <a:xfrm>
            <a:off x="822960" y="3886200"/>
            <a:ext cx="411480" cy="411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p229"/>
          <p:cNvSpPr/>
          <p:nvPr/>
        </p:nvSpPr>
        <p:spPr>
          <a:xfrm>
            <a:off x="822960" y="38862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Georgia"/>
              <a:buNone/>
            </a:pPr>
            <a:r>
              <a:rPr lang="en" sz="20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p229"/>
          <p:cNvSpPr/>
          <p:nvPr/>
        </p:nvSpPr>
        <p:spPr>
          <a:xfrm>
            <a:off x="1417320" y="388620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Domain-trust layer positioning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0" name="Google Shape;2280;p229"/>
          <p:cNvSpPr/>
          <p:nvPr/>
        </p:nvSpPr>
        <p:spPr>
          <a:xfrm>
            <a:off x="1417320" y="423367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 competing on general intelligence — focused on verifiable scholarly QA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22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00"/>
        </a:solidFill>
        <a:effectLst/>
      </p:bgPr>
    </p:bg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p23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8" name="Google Shape;2288;p230"/>
          <p:cNvSpPr/>
          <p:nvPr/>
        </p:nvSpPr>
        <p:spPr>
          <a:xfrm>
            <a:off x="548640" y="2286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" sz="3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Future Directions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p230"/>
          <p:cNvSpPr/>
          <p:nvPr/>
        </p:nvSpPr>
        <p:spPr>
          <a:xfrm>
            <a:off x="548640" y="777240"/>
            <a:ext cx="1828800" cy="36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0" name="Google Shape;2290;p230"/>
          <p:cNvSpPr/>
          <p:nvPr/>
        </p:nvSpPr>
        <p:spPr>
          <a:xfrm>
            <a:off x="822960" y="1005840"/>
            <a:ext cx="4116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1" name="Google Shape;2291;p230"/>
          <p:cNvSpPr/>
          <p:nvPr/>
        </p:nvSpPr>
        <p:spPr>
          <a:xfrm>
            <a:off x="822960" y="100584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Georgia"/>
              <a:buNone/>
            </a:pPr>
            <a:r>
              <a:rPr lang="en" sz="20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230"/>
          <p:cNvSpPr/>
          <p:nvPr/>
        </p:nvSpPr>
        <p:spPr>
          <a:xfrm>
            <a:off x="1412700" y="1053075"/>
            <a:ext cx="68625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Incorporate better rerankers and embedding models for better efficiency and better Recall@k and MRR values</a:t>
            </a:r>
            <a:endParaRPr sz="1600" b="1" i="0" u="none" strike="noStrike" cap="none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3" name="Google Shape;2293;p230"/>
          <p:cNvSpPr/>
          <p:nvPr/>
        </p:nvSpPr>
        <p:spPr>
          <a:xfrm>
            <a:off x="822960" y="1965960"/>
            <a:ext cx="4116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4" name="Google Shape;2294;p230"/>
          <p:cNvSpPr/>
          <p:nvPr/>
        </p:nvSpPr>
        <p:spPr>
          <a:xfrm>
            <a:off x="82296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Georgia"/>
              <a:buNone/>
            </a:pPr>
            <a:r>
              <a:rPr lang="en" sz="20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230"/>
          <p:cNvSpPr/>
          <p:nvPr/>
        </p:nvSpPr>
        <p:spPr>
          <a:xfrm>
            <a:off x="822960" y="2766055"/>
            <a:ext cx="4116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6" name="Google Shape;2296;p230"/>
          <p:cNvSpPr/>
          <p:nvPr/>
        </p:nvSpPr>
        <p:spPr>
          <a:xfrm>
            <a:off x="822960" y="2766055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Georgia"/>
              <a:buNone/>
            </a:pPr>
            <a:r>
              <a:rPr lang="en" sz="2000" b="1" i="0" u="none" strike="noStrike" cap="none">
                <a:solidFill>
                  <a:srgbClr val="99000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230"/>
          <p:cNvSpPr/>
          <p:nvPr/>
        </p:nvSpPr>
        <p:spPr>
          <a:xfrm>
            <a:off x="0" y="4960620"/>
            <a:ext cx="9144000" cy="183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230"/>
          <p:cNvSpPr txBox="1"/>
          <p:nvPr/>
        </p:nvSpPr>
        <p:spPr>
          <a:xfrm>
            <a:off x="1304650" y="1877275"/>
            <a:ext cx="671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Fine tune parameters with better curated dataset (more examples, more edge cases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9" name="Google Shape;2299;p230"/>
          <p:cNvSpPr txBox="1"/>
          <p:nvPr/>
        </p:nvSpPr>
        <p:spPr>
          <a:xfrm>
            <a:off x="1325875" y="2723775"/>
            <a:ext cx="63186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Use better research websites for retrieving high quality research papers</a:t>
            </a:r>
            <a:endParaRPr sz="1600" b="1" i="0" u="none" strike="noStrike" cap="none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FFC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p230"/>
          <p:cNvSpPr/>
          <p:nvPr/>
        </p:nvSpPr>
        <p:spPr>
          <a:xfrm>
            <a:off x="548640" y="3566160"/>
            <a:ext cx="8046600" cy="914400"/>
          </a:xfrm>
          <a:prstGeom prst="rect">
            <a:avLst/>
          </a:prstGeom>
          <a:solidFill>
            <a:srgbClr val="FFF4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1" name="Google Shape;2301;p2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703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02" name="Google Shape;2302;p230"/>
          <p:cNvSpPr/>
          <p:nvPr/>
        </p:nvSpPr>
        <p:spPr>
          <a:xfrm>
            <a:off x="1325880" y="36576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New Questions from This Work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3" name="Google Shape;2303;p230"/>
          <p:cNvSpPr/>
          <p:nvPr/>
        </p:nvSpPr>
        <p:spPr>
          <a:xfrm>
            <a:off x="1325880" y="3977640"/>
            <a:ext cx="6858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3D30"/>
              </a:buClr>
              <a:buSzPts val="1100"/>
              <a:buFont typeface="Calibri"/>
              <a:buNone/>
            </a:pPr>
            <a:r>
              <a:rPr lang="en" sz="1100" b="0" i="1" u="none" strike="noStrike" cap="none">
                <a:solidFill>
                  <a:srgbClr val="E43D30"/>
                </a:solidFill>
                <a:latin typeface="Calibri"/>
                <a:ea typeface="Calibri"/>
                <a:cs typeface="Calibri"/>
                <a:sym typeface="Calibri"/>
              </a:rPr>
              <a:t>Can we generalize M/S/A framework on different types of bots and check if it can reduce delusional spiraling for informed and naive users?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00"/>
        </a:solidFill>
        <a:effectLst/>
      </p:bgPr>
    </p:bg>
    <p:spTree>
      <p:nvGrpSpPr>
        <p:cNvPr id="1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23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0" name="Google Shape;2310;p231"/>
          <p:cNvSpPr/>
          <p:nvPr/>
        </p:nvSpPr>
        <p:spPr>
          <a:xfrm>
            <a:off x="731520" y="11887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lang="en" sz="4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1" name="Google Shape;2311;p231"/>
          <p:cNvSpPr/>
          <p:nvPr/>
        </p:nvSpPr>
        <p:spPr>
          <a:xfrm>
            <a:off x="731520" y="2148840"/>
            <a:ext cx="2286000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2" name="Google Shape;2312;p231"/>
          <p:cNvSpPr/>
          <p:nvPr/>
        </p:nvSpPr>
        <p:spPr>
          <a:xfrm>
            <a:off x="731520" y="2377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400"/>
              <a:buFont typeface="Calibri"/>
              <a:buNone/>
            </a:pPr>
            <a:r>
              <a:rPr lang="en" sz="2400" b="0" i="0" u="none" strike="noStrike" cap="non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231"/>
          <p:cNvSpPr/>
          <p:nvPr/>
        </p:nvSpPr>
        <p:spPr>
          <a:xfrm>
            <a:off x="731520" y="33832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{sdalavi, pperiche, eshnagup}@usc.edu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p23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1493</Words>
  <Application>Microsoft Macintosh PowerPoint</Application>
  <PresentationFormat>On-screen Show (16:9)</PresentationFormat>
  <Paragraphs>167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Georgia</vt:lpstr>
      <vt:lpstr>Times New Roman</vt:lpstr>
      <vt:lpstr>Roboto</vt:lpstr>
      <vt:lpstr>Arial</vt:lpstr>
      <vt:lpstr>Consolas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Sushil Dalavi</cp:lastModifiedBy>
  <cp:revision>1</cp:revision>
  <dcterms:modified xsi:type="dcterms:W3CDTF">2026-05-05T23:17:31Z</dcterms:modified>
</cp:coreProperties>
</file>